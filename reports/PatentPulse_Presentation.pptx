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860ec3b85e4218" /><Relationship Type="http://schemas.openxmlformats.org/officeDocument/2006/relationships/extended-properties" Target="/docProps/app.xml" Id="Rf00540c3a77b41d8" /><Relationship Type="http://schemas.openxmlformats.org/officeDocument/2006/relationships/officeDocument" Target="/ppt/presentation.xml" Id="Rf4d6e5dff646405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dfbcba22a34480b"/>
  </p:sldMasterIdLst>
  <p:notesMasterIdLst>
    <p:notesMasterId xmlns:r="http://schemas.openxmlformats.org/officeDocument/2006/relationships" r:id="Rf483482d3b654553"/>
  </p:notesMasterIdLst>
  <p:sldIdLst>
    <p:sldId xmlns:r="http://schemas.openxmlformats.org/officeDocument/2006/relationships" id="256" r:id="R24a6c54a19f14a2f"/>
    <p:sldId xmlns:r="http://schemas.openxmlformats.org/officeDocument/2006/relationships" id="257" r:id="R1ba55ffeb9d04991"/>
    <p:sldId xmlns:r="http://schemas.openxmlformats.org/officeDocument/2006/relationships" id="258" r:id="Rf11b7e1a4604433a"/>
    <p:sldId xmlns:r="http://schemas.openxmlformats.org/officeDocument/2006/relationships" id="259" r:id="Rd240cf6d050b43a7"/>
    <p:sldId xmlns:r="http://schemas.openxmlformats.org/officeDocument/2006/relationships" id="260" r:id="Rc23ed68cfb5241cf"/>
    <p:sldId xmlns:r="http://schemas.openxmlformats.org/officeDocument/2006/relationships" id="261" r:id="R5456d8b5367f45a6"/>
    <p:sldId xmlns:r="http://schemas.openxmlformats.org/officeDocument/2006/relationships" id="262" r:id="R5ca7f7230bff46d5"/>
    <p:sldId xmlns:r="http://schemas.openxmlformats.org/officeDocument/2006/relationships" id="263" r:id="R5513955a44ef46d4"/>
    <p:sldId xmlns:r="http://schemas.openxmlformats.org/officeDocument/2006/relationships" id="264" r:id="R4e54868169d74d54"/>
    <p:sldId xmlns:r="http://schemas.openxmlformats.org/officeDocument/2006/relationships" id="265" r:id="R6da6d4f79e29411d"/>
    <p:sldId xmlns:r="http://schemas.openxmlformats.org/officeDocument/2006/relationships" id="266" r:id="R653dc9937faa4794"/>
    <p:sldId xmlns:r="http://schemas.openxmlformats.org/officeDocument/2006/relationships" id="267" r:id="R4c5431a427f448ae"/>
    <p:sldId xmlns:r="http://schemas.openxmlformats.org/officeDocument/2006/relationships" id="268" r:id="Rf3b787993a7e450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4c75f1e2a94917" /><Relationship Type="http://schemas.openxmlformats.org/officeDocument/2006/relationships/slideMaster" Target="/ppt/slideMasters/slideMaster1.xml" Id="R1dfbcba22a34480b" /><Relationship Type="http://schemas.openxmlformats.org/officeDocument/2006/relationships/notesMaster" Target="/ppt/notesMasters/notesMaster1.xml" Id="Rf483482d3b654553" /><Relationship Type="http://schemas.openxmlformats.org/officeDocument/2006/relationships/presProps" Target="/ppt/presProps.xml" Id="R189beda856e6468d" /><Relationship Type="http://schemas.openxmlformats.org/officeDocument/2006/relationships/tableStyles" Target="/ppt/tableStyles.xml" Id="R2ebffb855cd04c0b" /><Relationship Type="http://schemas.openxmlformats.org/officeDocument/2006/relationships/slide" Target="/ppt/slides/slide1.xml" Id="R24a6c54a19f14a2f" /><Relationship Type="http://schemas.openxmlformats.org/officeDocument/2006/relationships/slide" Target="/ppt/slides/slide2.xml" Id="R1ba55ffeb9d04991" /><Relationship Type="http://schemas.openxmlformats.org/officeDocument/2006/relationships/slide" Target="/ppt/slides/slide3.xml" Id="Rf11b7e1a4604433a" /><Relationship Type="http://schemas.openxmlformats.org/officeDocument/2006/relationships/slide" Target="/ppt/slides/slide4.xml" Id="Rd240cf6d050b43a7" /><Relationship Type="http://schemas.openxmlformats.org/officeDocument/2006/relationships/slide" Target="/ppt/slides/slide5.xml" Id="Rc23ed68cfb5241cf" /><Relationship Type="http://schemas.openxmlformats.org/officeDocument/2006/relationships/slide" Target="/ppt/slides/slide6.xml" Id="R5456d8b5367f45a6" /><Relationship Type="http://schemas.openxmlformats.org/officeDocument/2006/relationships/slide" Target="/ppt/slides/slide7.xml" Id="R5ca7f7230bff46d5" /><Relationship Type="http://schemas.openxmlformats.org/officeDocument/2006/relationships/slide" Target="/ppt/slides/slide8.xml" Id="R5513955a44ef46d4" /><Relationship Type="http://schemas.openxmlformats.org/officeDocument/2006/relationships/slide" Target="/ppt/slides/slide9.xml" Id="R4e54868169d74d54" /><Relationship Type="http://schemas.openxmlformats.org/officeDocument/2006/relationships/slide" Target="/ppt/slides/slide10.xml" Id="R6da6d4f79e29411d" /><Relationship Type="http://schemas.openxmlformats.org/officeDocument/2006/relationships/slide" Target="/ppt/slides/slide11.xml" Id="R653dc9937faa4794" /><Relationship Type="http://schemas.openxmlformats.org/officeDocument/2006/relationships/slide" Target="/ppt/slides/slide12.xml" Id="R4c5431a427f448ae" /><Relationship Type="http://schemas.openxmlformats.org/officeDocument/2006/relationships/slide" Target="/ppt/slides/slide13.xml" Id="Rf3b787993a7e45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8edbcda8dbf4d7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e2b45322094179" /><Relationship Type="http://schemas.openxmlformats.org/officeDocument/2006/relationships/notesMaster" Target="/ppt/notesMasters/notesMaster1.xml" Id="R6933e0468780402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d78d5d224524d17" /><Relationship Type="http://schemas.openxmlformats.org/officeDocument/2006/relationships/notesMaster" Target="/ppt/notesMasters/notesMaster1.xml" Id="Rde78ad890649438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77a00c31484470d" /><Relationship Type="http://schemas.openxmlformats.org/officeDocument/2006/relationships/notesMaster" Target="/ppt/notesMasters/notesMaster1.xml" Id="R80a976043163453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246a991a0714898" /><Relationship Type="http://schemas.openxmlformats.org/officeDocument/2006/relationships/notesMaster" Target="/ppt/notesMasters/notesMaster1.xml" Id="R2bcf459cb79a4f6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4800e21d1fb4d77" /><Relationship Type="http://schemas.openxmlformats.org/officeDocument/2006/relationships/notesMaster" Target="/ppt/notesMasters/notesMaster1.xml" Id="R4c065ad296a1455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965482427c14eaf" /><Relationship Type="http://schemas.openxmlformats.org/officeDocument/2006/relationships/notesMaster" Target="/ppt/notesMasters/notesMaster1.xml" Id="Re7d8a1c32ef5421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2d96ec6e4fe44e0" /><Relationship Type="http://schemas.openxmlformats.org/officeDocument/2006/relationships/notesMaster" Target="/ppt/notesMasters/notesMaster1.xml" Id="R1a3c5b746f124ca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eed1ad882a6467f" /><Relationship Type="http://schemas.openxmlformats.org/officeDocument/2006/relationships/notesMaster" Target="/ppt/notesMasters/notesMaster1.xml" Id="Rf854da0723274f9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9578362702048b5" /><Relationship Type="http://schemas.openxmlformats.org/officeDocument/2006/relationships/notesMaster" Target="/ppt/notesMasters/notesMaster1.xml" Id="Rf8099172962c4ea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00fbc542aed4a12" /><Relationship Type="http://schemas.openxmlformats.org/officeDocument/2006/relationships/notesMaster" Target="/ppt/notesMasters/notesMaster1.xml" Id="R34f51c18c10f415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4e4ca3fed624bbe" /><Relationship Type="http://schemas.openxmlformats.org/officeDocument/2006/relationships/notesMaster" Target="/ppt/notesMasters/notesMaster1.xml" Id="Ra1dc781f906b483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fe7264bfcc34fc3" /><Relationship Type="http://schemas.openxmlformats.org/officeDocument/2006/relationships/notesMaster" Target="/ppt/notesMasters/notesMaster1.xml" Id="R80ce53b46d97406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e41dffb163b42e8" /><Relationship Type="http://schemas.openxmlformats.org/officeDocument/2006/relationships/notesMaster" Target="/ppt/notesMasters/notesMaster1.xml" Id="R70d576096a7047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research-management problem and the five development modules. This deck describes the supplied project archive. It does not claim the final GitHub branch has been freshly tested.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Module ownership follows the team allocation. LedgerService, AppServlet and document.jsp contain shared sections. Read docs/modules/README.md for exact paths.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pom.xml, web.xml, AppContext.java and the web/service packages. The WAR uses javax.servlet 4.0 and targets Tomcat 9. H2 and embedded Tomcat are test/demo dependencies.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src/main/resources/schema.sql. Six tables: users, blueprints, document_versions, review_assignments, review_votes, audit_logs. Receipts are derived views.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UploadStore.save, LedgerService.submit and AppServlet POST /submit. Limit is 10,485,760 bytes. File cleanup after SQL failure is attempted, not a distributed transaction.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ReviewPolicy.java and LedgerService.assign/vote. Any rejection takes priority. Authors cannot review their own work. A terminal version rejects later votes and assignments.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LedgerService.verify and FileServlet.doGet. SHA-256 background: https://doi.org/10.6028/NIST.FIPS.180-4. A hash is not encryption or proof of legal ownership.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AuthService.java, AuthServlet.java, SecurityFilter.java, UploadStore.java. Background: https://www.usenix.org/conference/1999-usenix-annual-technical-conference/future-adaptable-password-scheme and https://cheatsheetseries.owasp.org/cheatsheets/File_Upload_Cheat_Sheet.html.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Supplied synthetic demo screenshot: docs/screenshots/02-dashboard.png. This is an archived UI illustration, not a new capture from the final merged branch.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Supplied synthetic demo screenshot: docs/screenshots/03-record.png. This is an archived UI illustration, not a new capture from the final merged branch.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supplied docs/TEST-REPORT.md, dated 6 October 2026. Source inspection confirms 4 HashingTest methods, 4 ReviewPolicyTest methods and 3 WorkflowTest methods. No new execution occurred during document preparation because Maven was unavailable.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for scope: https://ipindia.gov.in/pages/patents/learn/basics-of-patents and https://www.wipo.int/en/web/patents/faq_patents. Prototype source: README.md. See docs/DEMO_VIDEO_SCRIPT.md for the recording sequence.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bf6b549c27404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5810a5dc96493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49a6e5ef7443f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c8d0b33d07441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db1057dc40440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9f6025d3fc4b5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265377B-961C-49AD-8FF9-5C6C9A2C62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50A4A4D-69C7-42D1-9AB7-5F18D997EF9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175A327-7420-4BE1-B9C5-E64451E270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7E70491-2FC9-46F3-9C7D-C262EA2F36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F97B7F1-1648-4BE5-A314-AAB18AFBBA3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EC39183-9AC3-4EB0-A7BF-B0D78B9C25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85FE106-C8A6-441C-A109-62BAC812083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C8AE4C4-4E0D-4ED4-94EB-5EDF1C5CEE9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47A7FF7-C3D3-449B-86F8-B8C21F2DAB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A73545B-2FC4-4C5B-A03F-56D01DA4418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7da7ada961e408f" /><Relationship Type="http://schemas.openxmlformats.org/officeDocument/2006/relationships/slideLayout" Target="/ppt/slideLayouts/slideLayout1.xml" Id="Rd96338445bab424a" /><Relationship Type="http://schemas.openxmlformats.org/officeDocument/2006/relationships/slideLayout" Target="/ppt/slideLayouts/slideLayout2.xml" Id="Rbf338ce4c179477f" /><Relationship Type="http://schemas.openxmlformats.org/officeDocument/2006/relationships/slideLayout" Target="/ppt/slideLayouts/slideLayout3.xml" Id="Rb0016bd49a644988" /><Relationship Type="http://schemas.openxmlformats.org/officeDocument/2006/relationships/slideLayout" Target="/ppt/slideLayouts/slideLayout4.xml" Id="Re7d1287f268149fc" /><Relationship Type="http://schemas.openxmlformats.org/officeDocument/2006/relationships/slideLayout" Target="/ppt/slideLayouts/slideLayout5.xml" Id="Re06d01b48ac7445e" /><Relationship Type="http://schemas.openxmlformats.org/officeDocument/2006/relationships/slideLayout" Target="/ppt/slideLayouts/slideLayout6.xml" Id="R671730268883402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96338445bab424a"/>
    <p:sldLayoutId xmlns:r="http://schemas.openxmlformats.org/officeDocument/2006/relationships" id="2147483650" r:id="Rbf338ce4c179477f"/>
    <p:sldLayoutId xmlns:r="http://schemas.openxmlformats.org/officeDocument/2006/relationships" id="2147483651" r:id="Rb0016bd49a644988"/>
    <p:sldLayoutId xmlns:r="http://schemas.openxmlformats.org/officeDocument/2006/relationships" id="2147483652" r:id="Re7d1287f268149fc"/>
    <p:sldLayoutId xmlns:r="http://schemas.openxmlformats.org/officeDocument/2006/relationships" id="2147483653" r:id="Re06d01b48ac7445e"/>
    <p:sldLayoutId xmlns:r="http://schemas.openxmlformats.org/officeDocument/2006/relationships" id="2147483654" r:id="R671730268883402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4d792b36394249" /><Relationship Type="http://schemas.openxmlformats.org/officeDocument/2006/relationships/notesSlide" Target="/ppt/notesSlides/notesSlide1.xml" Id="R08bbba0eb9864cd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389d0b69a344aa" /><Relationship Type="http://schemas.openxmlformats.org/officeDocument/2006/relationships/notesSlide" Target="/ppt/notesSlides/notesSlide2.xml" Id="R2bdb3edb968a4d8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251c62891e411d" /><Relationship Type="http://schemas.openxmlformats.org/officeDocument/2006/relationships/notesSlide" Target="/ppt/notesSlides/notesSlide3.xml" Id="R69c1aaba21294a2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17c217e9214412" /><Relationship Type="http://schemas.openxmlformats.org/officeDocument/2006/relationships/notesSlide" Target="/ppt/notesSlides/notesSlide4.xml" Id="R9fee8d3a7ff645c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1af39ee8ba4c18" /><Relationship Type="http://schemas.openxmlformats.org/officeDocument/2006/relationships/notesSlide" Target="/ppt/notesSlides/notesSlide5.xml" Id="Rf3f88f3706cc417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96cee9b30949b9" /><Relationship Type="http://schemas.openxmlformats.org/officeDocument/2006/relationships/notesSlide" Target="/ppt/notesSlides/notesSlide6.xml" Id="R7da4aba9a9cf4f6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48560685584d7e" /><Relationship Type="http://schemas.openxmlformats.org/officeDocument/2006/relationships/notesSlide" Target="/ppt/notesSlides/notesSlide7.xml" Id="R218aa1389009419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affca03cb6442d" /><Relationship Type="http://schemas.openxmlformats.org/officeDocument/2006/relationships/notesSlide" Target="/ppt/notesSlides/notesSlide8.xml" Id="Rfe9c41679f5c4f1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f85080e69e4c0a" /><Relationship Type="http://schemas.openxmlformats.org/officeDocument/2006/relationships/notesSlide" Target="/ppt/notesSlides/notesSlide9.xml" Id="R491768886f5a451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af3c4899144a0a" /><Relationship Type="http://schemas.openxmlformats.org/officeDocument/2006/relationships/image" Target="/ppt/media/image.png" Id="R5833f52ad2594377" /><Relationship Type="http://schemas.openxmlformats.org/officeDocument/2006/relationships/notesSlide" Target="/ppt/notesSlides/notesSlide10.xml" Id="Rb23898f324f54d3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1129edfcc84b39" /><Relationship Type="http://schemas.openxmlformats.org/officeDocument/2006/relationships/image" Target="/ppt/media/image2.png" Id="R5167bd833e9a4d74" /><Relationship Type="http://schemas.openxmlformats.org/officeDocument/2006/relationships/notesSlide" Target="/ppt/notesSlides/notesSlide11.xml" Id="Rff0f155268d04b5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8d01d5c4fe459c" /><Relationship Type="http://schemas.openxmlformats.org/officeDocument/2006/relationships/notesSlide" Target="/ppt/notesSlides/notesSlide12.xml" Id="R96334afcf6b94f5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507ca8c4014059" /><Relationship Type="http://schemas.openxmlformats.org/officeDocument/2006/relationships/notesSlide" Target="/ppt/notesSlides/notesSlide13.xml" Id="R8fa546c5c1fa421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E1E96C-CC24-4A23-A56C-D4172E04C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PatentPulse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60AE39-677E-41CF-B9C0-588DCA92C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6700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B6E4D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B6E4DC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B6E4DC"/>
                </a:solidFill>
                <a:latin typeface="Arial"/>
                <a:ea typeface="Arial"/>
                <a:cs typeface="Arial"/>
              </a:rPr>
              <a:t>Research versions and internal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8BCCD9-0BD5-4DB7-B767-0D1AF7DE6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62375"/>
            <a:ext cx="1000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Advanced Java mini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293353-2774-417B-8D68-97BAC2610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Mohit Sharma, Meet, Jay, Nitesh and Mann Jain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850D4B-0DD2-4966-A4DD-9BFBAB98E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6732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BCCCD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BCCCD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CCCDC"/>
                </a:solidFill>
                <a:latin typeface="Arial"/>
                <a:ea typeface="Arial"/>
                <a:cs typeface="Arial"/>
              </a:rPr>
              <a:t>Arya College of Engineering and IT, Jaipur</a:t>
            </a:r>
          </a:p>
        </p:txBody>
      </p:sp>
    </p:spTree>
    <p:extLst>
      <p:ext uri="{BB962C8B-B14F-4D97-AF65-F5344CB8AC3E}">
        <p14:creationId xmlns:p14="http://schemas.microsoft.com/office/powerpoint/2010/main" val="12538937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97EBB9-FE1D-4D7A-AD18-19CEBB06C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061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problem is tracking the reviewed version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A921BF-A821-4A66-BEF9-A8110909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8EEE78-6FD9-4640-AE20-BC9B3D73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26D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D8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D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8A5B7A-7BF7-4615-8D5C-652794947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007F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07F7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F7A"/>
                </a:solidFill>
                <a:latin typeface="Arial"/>
                <a:ea typeface="Arial"/>
                <a:cs typeface="Arial"/>
              </a:rPr>
              <a:t>Files change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159EB9-7195-4C2E-A479-55AF93C1B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6217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A familiar filename does not identify the exact bytes a reviewer examined.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A4D813-8DF0-4BD6-80FC-AEC0DEF3F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007F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07F7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F7A"/>
                </a:solidFill>
                <a:latin typeface="Arial"/>
                <a:ea typeface="Arial"/>
                <a:cs typeface="Arial"/>
              </a:rPr>
              <a:t>Feedback becomes detached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97429E-3BF1-4561-98A2-9572484D8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Comments and decisions need a stable connection to a particular submission.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F04EC7-4D69-45B5-B6F1-DFD7CB7E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007F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07F7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F7A"/>
                </a:solidFill>
                <a:latin typeface="Arial"/>
                <a:ea typeface="Arial"/>
                <a:cs typeface="Arial"/>
              </a:rPr>
              <a:t>Access needs a clear 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50B65C-ED2C-4F46-A982-7F1C70C6F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Owners, assigned reviewers and administrators need different permissions.</a:t>
            </a:r>
          </a:p>
        </p:txBody>
      </p:sp>
    </p:spTree>
    <p:extLst>
      <p:ext uri="{BB962C8B-B14F-4D97-AF65-F5344CB8AC3E}">
        <p14:creationId xmlns:p14="http://schemas.microsoft.com/office/powerpoint/2010/main" val="13843835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D4DC5F-5F5A-460B-91CA-26221F7B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061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Five modules share one application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9B3509-FD2E-47AD-83A8-62E046614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7DEAD3-1E5E-440D-92E3-5B948B1FD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26D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D8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D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EB59F1-810F-4031-AA29-D17ACDB81A99}"/>
              </a:ext>
            </a:extLst>
          </p:cNvPr>
          <p:cNvGraphicFramePr/>
          <p:nvPr/>
        </p:nvGraphicFramePr>
        <p:xfrm>
          <a:off xmlns:a="http://schemas.openxmlformats.org/drawingml/2006/main" x="609600" y="1666875"/>
          <a:ext xmlns:a="http://schemas.openxmlformats.org/drawingml/2006/main" cx="1095375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8858250"/>
              </a:tblGrid>
              <a:tr h="666750"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Member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Development responsibility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rPr>
                        <a:t>Mohit</a:t>
                      </a:r>
                    </a:p>
                  </a:txBody>
                  <a:tcPr marL="91440" marR="91440" marT="45720" marB="45720" anchor="ctr">
                    <a:solidFill>
                      <a:srgbClr val="F3F6F8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rPr>
                        <a:t>Drafts, uploads, version history and coordination</a:t>
                      </a:r>
                    </a:p>
                  </a:txBody>
                  <a:tcPr marL="91440" marR="91440" marT="45720" marB="45720" anchor="ctr">
                    <a:solidFill>
                      <a:srgbClr val="F3F6F8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rPr>
                        <a:t>Meet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rPr>
                        <a:t>Login, registration, sessions and access control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rPr>
                        <a:t>Jay</a:t>
                      </a:r>
                    </a:p>
                  </a:txBody>
                  <a:tcPr marL="91440" marR="91440" marT="45720" marB="45720" anchor="ctr">
                    <a:solidFill>
                      <a:srgbClr val="F3F6F8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rPr>
                        <a:t>SHA-256, file comparison and downloads</a:t>
                      </a:r>
                    </a:p>
                  </a:txBody>
                  <a:tcPr marL="91440" marR="91440" marT="45720" marB="45720" anchor="ctr">
                    <a:solidFill>
                      <a:srgbClr val="F3F6F8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rPr>
                        <a:t>Nitesh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rPr>
                        <a:t>Assignments, decisions and reviewer feedback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rPr>
                        <a:t>Mann</a:t>
                      </a:r>
                    </a:p>
                  </a:txBody>
                  <a:tcPr marL="91440" marR="91440" marT="45720" marB="45720" anchor="ctr">
                    <a:solidFill>
                      <a:srgbClr val="F3F6F8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rPr>
                        <a:t>Administration, audit logs and receipts</a:t>
                      </a:r>
                    </a:p>
                  </a:txBody>
                  <a:tcPr marL="91440" marR="91440" marT="45720" marB="45720" anchor="ctr"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95853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64AE1B-A434-4360-A418-87AD0604F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061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Servlets connect the browser to services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DE9DDD-4FFE-4C21-80BD-7D844F670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261106-A460-4B22-B983-47F29349D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26D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D8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D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6B815C-6ECB-4A7B-9884-D5B3EDE4D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2286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8063EB-67C1-4FA4-982E-E73EDD83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1943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Browser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2F682C-567C-405B-B789-B5AED5F1E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05000"/>
            <a:ext cx="3429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3D85C6-65B6-44A4-8873-CDF6085E6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076450"/>
            <a:ext cx="3086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SecurityFilter</a:t>
            </a:r>
          </a:p>
          <a:p xmlns:a="http://schemas.openxmlformats.org/drawingml/2006/main">
            <a:pPr>
              <a:defRPr sz="21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and Servlets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826223-7CB3-402C-B4CC-DF49412F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05000"/>
            <a:ext cx="3524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E1D5AD-7229-4199-B4BE-ECB9A5847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76450"/>
            <a:ext cx="3181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Services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5180FE-9CA1-4B03-B58C-0066F0BA0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286250"/>
            <a:ext cx="280987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D8B9E0-1E28-408D-B03F-B12D0ADD3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4457700"/>
            <a:ext cx="24669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MySQL via JDBC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E4B2D3-E4FD-4052-A804-8AEA52B3D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86250"/>
            <a:ext cx="2667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3015EF-77FD-44FB-A871-518C3F01B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457700"/>
            <a:ext cx="2324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Private file storage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D236E7-8169-4267-B8CD-E6204159E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324100"/>
            <a:ext cx="809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1E7B05-B723-4AEE-AA1B-683C4A2A7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2410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C12E1C-A638-4445-BC7A-124A88531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2809875"/>
            <a:ext cx="2857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AC6571-CFB2-4F6D-95AC-02BE39B7C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67125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32CC2B-C282-4A49-961A-D44D28AE7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67125"/>
            <a:ext cx="285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A40DE0-631D-4B3D-BC7F-E8553CC8E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667125"/>
            <a:ext cx="285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972FEC-AE7F-4DD5-A333-74B11803B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526D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26D8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D82"/>
                </a:solidFill>
                <a:latin typeface="Arial"/>
                <a:ea typeface="Arial"/>
                <a:cs typeface="Arial"/>
              </a:rPr>
              <a:t>Java 17   Servlet/JSP   JDBC   Maven WAR</a:t>
            </a:r>
          </a:p>
        </p:txBody>
      </p:sp>
    </p:spTree>
    <p:extLst>
      <p:ext uri="{BB962C8B-B14F-4D97-AF65-F5344CB8AC3E}">
        <p14:creationId xmlns:p14="http://schemas.microsoft.com/office/powerpoint/2010/main" val="14413606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04AE7F-6A28-4218-8E2A-9F0BC1F4E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061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 research item can contain several versions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D5F69C-13BB-464E-BBF5-6CF91579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8638A1-97FE-48C9-AF45-AD5CC43C9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26D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D8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D8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601A5E-DB25-47BE-BF25-D3A9F970C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007F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07F7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F7A"/>
                </a:solidFill>
                <a:latin typeface="Arial"/>
                <a:ea typeface="Arial"/>
                <a:cs typeface="Arial"/>
              </a:rPr>
              <a:t>Parent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618942-704A-4DF7-B05A-822366F73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6217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blueprints stores the owner and current research metadata.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C77F1A-ABD8-4262-9B94-A37A271B6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007F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07F7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F7A"/>
                </a:solidFill>
                <a:latin typeface="Arial"/>
                <a:ea typeface="Arial"/>
                <a:cs typeface="Arial"/>
              </a:rPr>
              <a:t>Submitted snapshot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5C63A8-2DDC-4413-B9CB-358CEF329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document_versions records version number, metadata, filename, hash and status.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5DD802-08C0-4936-94FF-B1D98294C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007F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07F7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F7A"/>
                </a:solidFill>
                <a:latin typeface="Arial"/>
                <a:ea typeface="Arial"/>
                <a:cs typeface="Arial"/>
              </a:rPr>
              <a:t>Review records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7520DE-3A0F-4020-9C9A-825ADF0C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Assignments and votes belong to a specific version. Audit events record actions.</a:t>
            </a:r>
          </a:p>
        </p:txBody>
      </p:sp>
    </p:spTree>
    <p:extLst>
      <p:ext uri="{BB962C8B-B14F-4D97-AF65-F5344CB8AC3E}">
        <p14:creationId xmlns:p14="http://schemas.microsoft.com/office/powerpoint/2010/main" val="15412861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170B5D-5BB0-4002-BA29-04B45EAB7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061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Submission preserves a new snapshot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D661F3-5476-4916-A135-81C3EC8C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2FA992-ACD4-4215-880E-913EBE66A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26D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D8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D8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2675D-0B0D-44AA-A9A7-6F11F47E04F9}"/>
              </a:ext>
            </a:extLst>
          </p:cNvPr>
          <p:cNvGraphicFramePr/>
          <p:nvPr/>
        </p:nvGraphicFramePr>
        <p:xfrm>
          <a:off xmlns:a="http://schemas.openxmlformats.org/drawingml/2006/main" x="609600" y="1666875"/>
          <a:ext xmlns:a="http://schemas.openxmlformats.org/drawingml/2006/main" cx="1095375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38250"/>
                <a:gridCol w="9715500"/>
              </a:tblGrid>
              <a:tr h="619125"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Step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Application action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</a:tr>
              <a:tr h="619125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3F6F8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rPr>
                        <a:t>Validate metadata and the uploaded file</a:t>
                      </a:r>
                    </a:p>
                  </a:txBody>
                  <a:tcPr marL="91440" marR="91440" marT="45720" marB="45720" anchor="ctr">
                    <a:solidFill>
                      <a:srgbClr val="F3F6F8"/>
                    </a:solidFill>
                  </a:tcPr>
                </a:tc>
              </a:tr>
              <a:tr h="619125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rPr>
                        <a:t>Store bytes under a generated private filename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3F6F8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rPr>
                        <a:t>Calculate the SHA-256 fingerprint</a:t>
                      </a:r>
                    </a:p>
                  </a:txBody>
                  <a:tcPr marL="91440" marR="91440" marT="45720" marB="45720" anchor="ctr">
                    <a:solidFill>
                      <a:srgbClr val="F3F6F8"/>
                    </a:solidFill>
                  </a:tcPr>
                </a:tc>
              </a:tr>
              <a:tr h="619125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rPr>
                        <a:t>Insert the version and audit event in a transaction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F3F6F8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rPr>
                        <a:t>Display the submitted version and its history</a:t>
                      </a:r>
                    </a:p>
                  </a:txBody>
                  <a:tcPr marL="91440" marR="91440" marT="45720" marB="45720" anchor="ctr"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601011-67A4-4A49-A59A-01C9F7310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526D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D8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D82"/>
                </a:solidFill>
                <a:latin typeface="Arial"/>
                <a:ea typeface="Arial"/>
                <a:cs typeface="Arial"/>
              </a:rPr>
              <a:t>A failed database submission triggers attempted file cleanup.</a:t>
            </a:r>
          </a:p>
        </p:txBody>
      </p:sp>
    </p:spTree>
    <p:extLst>
      <p:ext uri="{BB962C8B-B14F-4D97-AF65-F5344CB8AC3E}">
        <p14:creationId xmlns:p14="http://schemas.microsoft.com/office/powerpoint/2010/main" val="19807787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7A597A-7E9F-447C-ACDE-C01433C7A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061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Two approvals complete an internal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619998-4F66-49C3-8D20-4E98B5C69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2392E8-ACE7-4136-9058-A0C0DBC5C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26D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D8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D8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976EC0-7F26-4359-BB3D-DE386E299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SUBMITTED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2315F9-5E5B-4DAA-A3B2-CF7C49D0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526D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D8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D82"/>
                </a:solidFill>
                <a:latin typeface="Arial"/>
                <a:ea typeface="Arial"/>
                <a:cs typeface="Arial"/>
              </a:rPr>
              <a:t>First reviewer assignment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530D3D-3C6E-4A12-8661-C937645B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007F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7F7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7F7A"/>
                </a:solidFill>
                <a:latin typeface="Arial"/>
                <a:ea typeface="Arial"/>
                <a:cs typeface="Arial"/>
              </a:rPr>
              <a:t>IN_REVIEW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B4CD35-DC1B-4F4F-95D2-978341BA7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4667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One approval keeps the review open.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ADABDA-A117-4B25-95CA-4D71F27E9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52625"/>
            <a:ext cx="381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6D13DE-EDE7-4ED2-89D5-D9540482C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466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7F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7F7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F7A"/>
                </a:solidFill>
                <a:latin typeface="Arial"/>
                <a:ea typeface="Arial"/>
                <a:cs typeface="Arial"/>
              </a:rPr>
              <a:t>Two approvals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0F6C23-4154-471D-BE5F-50479C32A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67000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INTERNALLY_REVIEWED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965A49-7C64-48A8-83D4-4DDDD5BCF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10000"/>
            <a:ext cx="466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9C42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9C422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9C4221"/>
                </a:solidFill>
                <a:latin typeface="Arial"/>
                <a:ea typeface="Arial"/>
                <a:cs typeface="Arial"/>
              </a:rPr>
              <a:t>Any rejection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88F062-883F-4633-8AF5-8FCCEE7D4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81500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NEEDS_REVISION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CC7A9C-D57E-4D3B-85B7-42BE0725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526D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D8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D82"/>
                </a:solidFill>
                <a:latin typeface="Arial"/>
                <a:ea typeface="Arial"/>
                <a:cs typeface="Arial"/>
              </a:rPr>
              <a:t>Revised work starts a separate version with its own review.</a:t>
            </a:r>
          </a:p>
        </p:txBody>
      </p:sp>
    </p:spTree>
    <p:extLst>
      <p:ext uri="{BB962C8B-B14F-4D97-AF65-F5344CB8AC3E}">
        <p14:creationId xmlns:p14="http://schemas.microsoft.com/office/powerpoint/2010/main" val="18146154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FD9DF5-9408-4117-B5AE-37A084F5D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061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Verification compares a candidate with a saved hash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7D46D3-DD36-4275-8FB1-F7EEBDA0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2AC0F8-6DAD-4DED-B7CC-EEAB6D844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26D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D8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D82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930BD0-89B8-41AE-BA63-B077BC77A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007F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07F7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F7A"/>
                </a:solidFill>
                <a:latin typeface="Arial"/>
                <a:ea typeface="Arial"/>
                <a:cs typeface="Arial"/>
              </a:rPr>
              <a:t>Candidate file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03D63C-365F-412A-813F-94B0D6C9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6217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The user selects a version and uploads a local file for comparison.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4258C6-6B20-401E-9335-ACE7F1934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007F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07F7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F7A"/>
                </a:solidFill>
                <a:latin typeface="Arial"/>
                <a:ea typeface="Arial"/>
                <a:cs typeface="Arial"/>
              </a:rPr>
              <a:t>Server calculation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150227-E49A-4ED3-BC74-C1267BBB9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The server hashes the candidate bytes and compares the result with the saved digest.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FB9002-01F1-4A56-88BE-6F2718A4A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007F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07F7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F7A"/>
                </a:solidFill>
                <a:latin typeface="Arial"/>
                <a:ea typeface="Arial"/>
                <a:cs typeface="Arial"/>
              </a:rPr>
              <a:t>Result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76EA74-8B09-4489-AA8F-CA2CD1602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MATCH or MISMATCH is displayed and recorded in the audit log.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0933D7-5273-498A-A041-C2D6C97F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526D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D8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D82"/>
                </a:solidFill>
                <a:latin typeface="Arial"/>
                <a:ea typeface="Arial"/>
                <a:cs typeface="Arial"/>
              </a:rPr>
              <a:t>Downloads enforce access permissions without automatic stored-file rehashing.</a:t>
            </a:r>
          </a:p>
        </p:txBody>
      </p:sp>
    </p:spTree>
    <p:extLst>
      <p:ext uri="{BB962C8B-B14F-4D97-AF65-F5344CB8AC3E}">
        <p14:creationId xmlns:p14="http://schemas.microsoft.com/office/powerpoint/2010/main" val="5660245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196B91-442D-4778-BC2A-1D0345097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061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Security controls have defined limits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25F2F4-E2AD-4B2C-B336-16BF0EB48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16CEB7-3C71-40AF-9BEE-5C6772A8D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26D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D8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D82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40FD73-837F-44BA-B8A8-5449C8DBB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007F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7F7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F7A"/>
                </a:solidFill>
                <a:latin typeface="Arial"/>
                <a:ea typeface="Arial"/>
                <a:cs typeface="Arial"/>
              </a:rPr>
              <a:t>Implemented controls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020F84-52F7-4B60-910C-97E64DCE7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5048250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BCrypt password hashes</a:t>
            </a:r>
          </a:p>
          <a:p xmlns:a="http://schemas.openxmlformats.org/drawingml/2006/main">
            <a:pPr>
              <a:defRPr sz="2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Session rotation and CSRF tokens</a:t>
            </a:r>
          </a:p>
          <a:p xmlns:a="http://schemas.openxmlformats.org/drawingml/2006/main">
            <a:pPr>
              <a:defRPr sz="2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Role and per-version access checks</a:t>
            </a:r>
          </a:p>
          <a:p xmlns:a="http://schemas.openxmlformats.org/drawingml/2006/main">
            <a:pPr>
              <a:defRPr sz="2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Prepared SQL and escaped output</a:t>
            </a:r>
          </a:p>
          <a:p xmlns:a="http://schemas.openxmlformats.org/drawingml/2006/main">
            <a:pPr>
              <a:defRPr sz="2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Upload limits and private storage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45B48F-5473-4794-8B7D-0C39D3228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62125"/>
            <a:ext cx="485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007F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7F7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F7A"/>
                </a:solidFill>
                <a:latin typeface="Arial"/>
                <a:ea typeface="Arial"/>
                <a:cs typeface="Arial"/>
              </a:rPr>
              <a:t>Deployment gaps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BCF5ED-A718-494E-B6AB-73BF5EC67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4857750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No antivirus scanning</a:t>
            </a:r>
          </a:p>
          <a:p xmlns:a="http://schemas.openxmlformats.org/drawingml/2006/main">
            <a:pPr>
              <a:defRPr sz="2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Login delay is session-scoped</a:t>
            </a:r>
          </a:p>
          <a:p xmlns:a="http://schemas.openxmlformats.org/drawingml/2006/main">
            <a:pPr>
              <a:defRPr sz="2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Receipts are unsigned</a:t>
            </a:r>
          </a:p>
          <a:p xmlns:a="http://schemas.openxmlformats.org/drawingml/2006/main">
            <a:pPr>
              <a:defRPr sz="2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Server timestamps are not independent</a:t>
            </a:r>
          </a:p>
          <a:p xmlns:a="http://schemas.openxmlformats.org/drawingml/2006/main">
            <a:pPr>
              <a:defRPr sz="2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Privileged operators remain trusted</a:t>
            </a:r>
          </a:p>
        </p:txBody>
      </p:sp>
    </p:spTree>
    <p:extLst>
      <p:ext uri="{BB962C8B-B14F-4D97-AF65-F5344CB8AC3E}">
        <p14:creationId xmlns:p14="http://schemas.microsoft.com/office/powerpoint/2010/main" val="5623866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A0F706-A00E-472A-8D58-83CFF3459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061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Research dashboard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8444BF-E164-4B02-91C7-B8DC2D372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BE8E58-7346-4294-A298-F013F7F1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26D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D8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D82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CF7AEB-A0B4-4286-9675-7B1E9FD7FE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33f52ad2594377"/>
          <a:stretch xmlns:a="http://schemas.openxmlformats.org/drawingml/2006/main"/>
        </p:blipFill>
        <p:spPr>
          <a:xfrm xmlns:a="http://schemas.openxmlformats.org/drawingml/2006/main">
            <a:off x="1652221" y="1571625"/>
            <a:ext cx="5744308" cy="4667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FE0146-21CC-49A1-94D8-118437598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190750"/>
            <a:ext cx="2762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Listings, search and status filters keep research records together.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141449-AB9C-480C-BE3F-2F7B4877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762500"/>
            <a:ext cx="2714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526D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D8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D82"/>
                </a:solidFill>
                <a:latin typeface="Arial"/>
                <a:ea typeface="Arial"/>
                <a:cs typeface="Arial"/>
              </a:rPr>
              <a:t>Supplied demo screenshot</a:t>
            </a:r>
          </a:p>
          <a:p xmlns:a="http://schemas.openxmlformats.org/drawingml/2006/main">
            <a:pPr>
              <a:defRPr sz="1575" b="0">
                <a:solidFill>
                  <a:srgbClr val="526D8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D82"/>
                </a:solidFill>
                <a:latin typeface="Arial"/>
                <a:ea typeface="Arial"/>
                <a:cs typeface="Arial"/>
              </a:rPr>
              <a:t>Synthetic research data</a:t>
            </a:r>
          </a:p>
        </p:txBody>
      </p:sp>
    </p:spTree>
    <p:extLst>
      <p:ext uri="{BB962C8B-B14F-4D97-AF65-F5344CB8AC3E}">
        <p14:creationId xmlns:p14="http://schemas.microsoft.com/office/powerpoint/2010/main" val="92771902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E9FE2D-B6F6-4C06-8913-44A3913F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061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Document details and history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FD673D-77F9-4EF8-AB0F-78CD12D33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265068-79C0-4F6D-8C29-FB428C2A3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26D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D8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D82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6C6F4E-AB64-4510-8B66-7A2287BD1E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67bd833e9a4d74"/>
          <a:stretch xmlns:a="http://schemas.openxmlformats.org/drawingml/2006/main"/>
        </p:blipFill>
        <p:spPr>
          <a:xfrm xmlns:a="http://schemas.openxmlformats.org/drawingml/2006/main">
            <a:off x="1855257" y="1571625"/>
            <a:ext cx="5338237" cy="4667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8062DB-B73E-4C36-BABD-6946E403C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190750"/>
            <a:ext cx="2762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Each version shows its metadata, fingerprint and comparison control.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E804B5-606C-4F2E-A33B-8967B0AC0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762500"/>
            <a:ext cx="2714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526D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D8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D82"/>
                </a:solidFill>
                <a:latin typeface="Arial"/>
                <a:ea typeface="Arial"/>
                <a:cs typeface="Arial"/>
              </a:rPr>
              <a:t>Supplied demo screenshot</a:t>
            </a:r>
          </a:p>
          <a:p xmlns:a="http://schemas.openxmlformats.org/drawingml/2006/main">
            <a:pPr>
              <a:defRPr sz="1575" b="0">
                <a:solidFill>
                  <a:srgbClr val="526D8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D82"/>
                </a:solidFill>
                <a:latin typeface="Arial"/>
                <a:ea typeface="Arial"/>
                <a:cs typeface="Arial"/>
              </a:rPr>
              <a:t>Synthetic research data</a:t>
            </a:r>
          </a:p>
        </p:txBody>
      </p:sp>
    </p:spTree>
    <p:extLst>
      <p:ext uri="{BB962C8B-B14F-4D97-AF65-F5344CB8AC3E}">
        <p14:creationId xmlns:p14="http://schemas.microsoft.com/office/powerpoint/2010/main" val="15680364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455534-AA85-4BB1-BA03-FC0922531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061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archive records 11 passing tests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21D8DC-6F46-43D8-9049-84FBF1FBE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FF700E-184E-4688-B3C7-4203E535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26D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D8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D82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3B4B39-054E-4171-916D-232216D7E769}"/>
              </a:ext>
            </a:extLst>
          </p:cNvPr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5375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1047750"/>
                <a:gridCol w="6858000"/>
              </a:tblGrid>
              <a:tr h="666750"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Suite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Tests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Purpose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rPr>
                        <a:t>HashingTest</a:t>
                      </a:r>
                    </a:p>
                  </a:txBody>
                  <a:tcPr marL="91440" marR="91440" marT="45720" marB="45720" anchor="ctr">
                    <a:solidFill>
                      <a:srgbClr val="F3F6F8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3F6F8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rPr>
                        <a:t>Known vectors and byte-stream behaviour</a:t>
                      </a:r>
                    </a:p>
                  </a:txBody>
                  <a:tcPr marL="91440" marR="91440" marT="45720" marB="45720" anchor="ctr">
                    <a:solidFill>
                      <a:srgbClr val="F3F6F8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rPr>
                        <a:t>ReviewPolicyTest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rPr>
                        <a:t>Approval thresholds and terminal states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rPr>
                        <a:t>WorkflowTest</a:t>
                      </a:r>
                    </a:p>
                  </a:txBody>
                  <a:tcPr marL="91440" marR="91440" marT="45720" marB="45720" anchor="ctr">
                    <a:solidFill>
                      <a:srgbClr val="F3F6F8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3F6F8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rPr>
                        <a:t>HTTP, JSP, sessions and connected workflows</a:t>
                      </a:r>
                    </a:p>
                  </a:txBody>
                  <a:tcPr marL="91440" marR="91440" marT="45720" marB="45720" anchor="ctr"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4DEC1F-439B-47ED-94BE-7D52AA314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7F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7F7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F7A"/>
                </a:solidFill>
                <a:latin typeface="Arial"/>
                <a:ea typeface="Arial"/>
                <a:cs typeface="Arial"/>
              </a:rPr>
              <a:t>Fresh verification still required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4FC62C-F106-4550-9D10-29FD82A98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Run mvn clean verify on the final branch and test the actual MySQL deployment.</a:t>
            </a:r>
          </a:p>
        </p:txBody>
      </p:sp>
    </p:spTree>
    <p:extLst>
      <p:ext uri="{BB962C8B-B14F-4D97-AF65-F5344CB8AC3E}">
        <p14:creationId xmlns:p14="http://schemas.microsoft.com/office/powerpoint/2010/main" val="184667791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09FA66-3956-49B6-9172-0B68E9967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061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next step is a verified final demonstration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038675-93FB-4CF5-83AA-8E4CD33D7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D726E1-5F6B-47AE-B2C0-8F8529785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26D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D8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D82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A65AB0-173C-453B-9222-0CB711E23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007F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07F7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F7A"/>
                </a:solidFill>
                <a:latin typeface="Arial"/>
                <a:ea typeface="Arial"/>
                <a:cs typeface="Arial"/>
              </a:rPr>
              <a:t>Demonstrate the complete 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6EE6A7-67DF-47E9-B975-9C2D766DC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6217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Draft, submit, compare files, assign reviewers, decide and inspect history.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8E708B-075C-43A9-A469-AA7CD413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007F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07F7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F7A"/>
                </a:solidFill>
                <a:latin typeface="Arial"/>
                <a:ea typeface="Arial"/>
                <a:cs typeface="Arial"/>
              </a:rPr>
              <a:t>Complete the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B9D08-FC8C-47D2-B9FF-E9DC766FF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Record the final commit, build output and deployment checks.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896CE7-4B66-4287-BDA9-6A40FF92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007F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07F7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F7A"/>
                </a:solidFill>
                <a:latin typeface="Arial"/>
                <a:ea typeface="Arial"/>
                <a:cs typeface="Arial"/>
              </a:rPr>
              <a:t>Keep claims within scope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54490A-9552-44DB-9711-06A1743D7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Internal review and receipts do not grant patents or prove authorship.</a:t>
            </a:r>
          </a:p>
        </p:txBody>
      </p:sp>
    </p:spTree>
    <p:extLst>
      <p:ext uri="{BB962C8B-B14F-4D97-AF65-F5344CB8AC3E}">
        <p14:creationId xmlns:p14="http://schemas.microsoft.com/office/powerpoint/2010/main" val="15489908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2026-10-12T18:13:50.8480000Z</dcterms:created>
  <dcterms:modified xsi:type="dcterms:W3CDTF">2026-10-12T18:13:50.8480000Z</dcterms:modified>
</coreProperties>
</file>